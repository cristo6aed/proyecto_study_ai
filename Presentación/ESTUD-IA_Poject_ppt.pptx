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 Bold" charset="1" panose="00000000000000000000"/>
      <p:regular r:id="rId17"/>
    </p:embeddedFont>
    <p:embeddedFont>
      <p:font typeface="Raleway Italics" charset="1" panose="00000000000000000000"/>
      <p:regular r:id="rId18"/>
    </p:embeddedFont>
    <p:embeddedFont>
      <p:font typeface="Montserrat Heavy" charset="1" panose="00000A00000000000000"/>
      <p:regular r:id="rId19"/>
    </p:embeddedFont>
    <p:embeddedFont>
      <p:font typeface="Raleway" charset="1" panose="00000000000000000000"/>
      <p:regular r:id="rId20"/>
    </p:embeddedFont>
    <p:embeddedFont>
      <p:font typeface="Montserrat Semi-Bold" charset="1" panose="00000700000000000000"/>
      <p:regular r:id="rId21"/>
    </p:embeddedFont>
    <p:embeddedFont>
      <p:font typeface="Raleway Bold" charset="1" panose="00000000000000000000"/>
      <p:regular r:id="rId22"/>
    </p:embeddedFont>
    <p:embeddedFont>
      <p:font typeface="Mokoto" charset="1" panose="00000000000000000000"/>
      <p:regular r:id="rId23"/>
    </p:embeddedFont>
    <p:embeddedFont>
      <p:font typeface="Raleway Bold Italics" charset="1" panose="00000000000000000000"/>
      <p:regular r:id="rId24"/>
    </p:embeddedFont>
    <p:embeddedFont>
      <p:font typeface="Montserrat Medium" charset="1" panose="000006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56814" y="-403607"/>
            <a:ext cx="6531186" cy="11641778"/>
            <a:chOff x="0" y="0"/>
            <a:chExt cx="1720148" cy="30661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0148" cy="3066147"/>
            </a:xfrm>
            <a:custGeom>
              <a:avLst/>
              <a:gdLst/>
              <a:ahLst/>
              <a:cxnLst/>
              <a:rect r="r" b="b" t="t" l="l"/>
              <a:pathLst>
                <a:path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74092">
            <a:off x="-3513169" y="8339629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828919">
            <a:off x="1076036" y="-481941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76543" y="1776216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593764" y="4906218"/>
            <a:ext cx="3427871" cy="787875"/>
            <a:chOff x="0" y="0"/>
            <a:chExt cx="4570495" cy="10505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570495" cy="1050500"/>
              <a:chOff x="0" y="0"/>
              <a:chExt cx="1768157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68157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68157">
                    <a:moveTo>
                      <a:pt x="1564957" y="0"/>
                    </a:moveTo>
                    <a:cubicBezTo>
                      <a:pt x="1677182" y="0"/>
                      <a:pt x="1768157" y="90976"/>
                      <a:pt x="1768157" y="203200"/>
                    </a:cubicBezTo>
                    <a:cubicBezTo>
                      <a:pt x="1768157" y="315424"/>
                      <a:pt x="1677182" y="406400"/>
                      <a:pt x="1564957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32A64">
                      <a:alpha val="100000"/>
                    </a:srgbClr>
                  </a:gs>
                  <a:gs pos="100000">
                    <a:srgbClr val="414C94">
                      <a:alpha val="100000"/>
                    </a:srgbClr>
                  </a:gs>
                </a:gsLst>
                <a:lin ang="0"/>
              </a:gradFill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768157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3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3105087" y="435703"/>
              <a:ext cx="492779" cy="232950"/>
            </a:xfrm>
            <a:custGeom>
              <a:avLst/>
              <a:gdLst/>
              <a:ahLst/>
              <a:cxnLst/>
              <a:rect r="r" b="b" t="t" l="l"/>
              <a:pathLst>
                <a:path h="232950" w="492779">
                  <a:moveTo>
                    <a:pt x="0" y="0"/>
                  </a:moveTo>
                  <a:lnTo>
                    <a:pt x="492780" y="0"/>
                  </a:lnTo>
                  <a:lnTo>
                    <a:pt x="492780" y="232950"/>
                  </a:lnTo>
                  <a:lnTo>
                    <a:pt x="0" y="23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799410" y="397587"/>
              <a:ext cx="2025319" cy="3568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97"/>
                </a:lnSpc>
              </a:pPr>
              <a:r>
                <a:rPr lang="en-US" sz="1997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next slide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047841" y="1959622"/>
            <a:ext cx="6941274" cy="34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6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CRISTHIAN TORRICO - JEREMY AGUILAR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76543" y="5493482"/>
            <a:ext cx="8971144" cy="1355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7"/>
              </a:lnSpc>
            </a:pPr>
            <a:r>
              <a:rPr lang="en-US" sz="3682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Sistema para generar explicaciones de diapositivas a partir de PDF, Word, audio y contexto del usuario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76543" y="3770430"/>
            <a:ext cx="9506012" cy="142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9"/>
              </a:lnSpc>
            </a:pPr>
            <a:r>
              <a:rPr lang="en-US" sz="11062" b="true">
                <a:solidFill>
                  <a:srgbClr val="36E9F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ESTUD-IA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76543" y="7564962"/>
            <a:ext cx="12945864" cy="1250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338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Aprendizaje profundo</a:t>
            </a:r>
          </a:p>
          <a:p>
            <a:pPr algn="l">
              <a:lnSpc>
                <a:spcPts val="3212"/>
              </a:lnSpc>
            </a:pPr>
            <a:r>
              <a:rPr lang="en-US" sz="338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Marzo 2026</a:t>
            </a:r>
          </a:p>
          <a:p>
            <a:pPr algn="l">
              <a:lnSpc>
                <a:spcPts val="3212"/>
              </a:lnSpc>
            </a:pPr>
            <a:r>
              <a:rPr lang="en-US" sz="3382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Máster en Ciencia de Datos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72293">
            <a:off x="-5799371" y="6668368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8920761" y="-3494855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479172"/>
          </a:xfrm>
          <a:custGeom>
            <a:avLst/>
            <a:gdLst/>
            <a:ahLst/>
            <a:cxnLst/>
            <a:rect r="r" b="b" t="t" l="l"/>
            <a:pathLst>
              <a:path h="10479172" w="18288000">
                <a:moveTo>
                  <a:pt x="0" y="0"/>
                </a:moveTo>
                <a:lnTo>
                  <a:pt x="18288000" y="0"/>
                </a:lnTo>
                <a:lnTo>
                  <a:pt x="18288000" y="10479172"/>
                </a:lnTo>
                <a:lnTo>
                  <a:pt x="0" y="10479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355" r="0" b="-235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480054" y="8864362"/>
            <a:ext cx="3427871" cy="787875"/>
            <a:chOff x="0" y="0"/>
            <a:chExt cx="17681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808869" y="9191140"/>
            <a:ext cx="369584" cy="174713"/>
          </a:xfrm>
          <a:custGeom>
            <a:avLst/>
            <a:gdLst/>
            <a:ahLst/>
            <a:cxnLst/>
            <a:rect r="r" b="b" t="t" l="l"/>
            <a:pathLst>
              <a:path h="174713" w="369584">
                <a:moveTo>
                  <a:pt x="0" y="0"/>
                </a:moveTo>
                <a:lnTo>
                  <a:pt x="369585" y="0"/>
                </a:lnTo>
                <a:lnTo>
                  <a:pt x="369585" y="174712"/>
                </a:lnTo>
                <a:lnTo>
                  <a:pt x="0" y="174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079611" y="9174459"/>
            <a:ext cx="1518989" cy="25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9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next slide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3647" y="1525428"/>
            <a:ext cx="16030015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Librerías y modelos usados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4092" y="3118460"/>
            <a:ext cx="8104562" cy="607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6"/>
              </a:lnSpc>
            </a:pPr>
          </a:p>
          <a:p>
            <a:pPr algn="just">
              <a:lnSpc>
                <a:spcPts val="3706"/>
              </a:lnSpc>
            </a:pP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Docling 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→ extracción de texto del PDF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faster-whisper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transcripción del audio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Transformers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carga de modelos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PyTorch 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→ ejecución de modelos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python-docx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lectura de apuntes Word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PyMuPDF 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→ manejo de páginas PDF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ReportLab 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→ generación del PDF final</a:t>
            </a: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json / re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estructuración y limpieza de texto</a:t>
            </a:r>
          </a:p>
          <a:p>
            <a:pPr algn="just">
              <a:lnSpc>
                <a:spcPts val="3706"/>
              </a:lnSpc>
            </a:pPr>
          </a:p>
          <a:p>
            <a:pPr algn="just">
              <a:lnSpc>
                <a:spcPts val="370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51514" y="512922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50170" y="3156653"/>
            <a:ext cx="7526573" cy="513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Qwen2.5-1.5B-Instruct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 tema, keywords y alineación semántica</a:t>
            </a:r>
          </a:p>
          <a:p>
            <a:pPr algn="just">
              <a:lnSpc>
                <a:spcPts val="3706"/>
              </a:lnSpc>
            </a:pP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Qwen2.5-3B-Instruct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  explicación final por diapositiva</a:t>
            </a:r>
          </a:p>
          <a:p>
            <a:pPr algn="just">
              <a:lnSpc>
                <a:spcPts val="3706"/>
              </a:lnSpc>
            </a:pPr>
          </a:p>
          <a:p>
            <a:pPr algn="just" marL="620406" indent="-310203" lvl="1">
              <a:lnSpc>
                <a:spcPts val="3706"/>
              </a:lnSpc>
              <a:buFont typeface="Arial"/>
              <a:buChar char="•"/>
            </a:pPr>
            <a:r>
              <a:rPr lang="en-US" b="true" sz="2873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Whisper </a:t>
            </a: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→   transcripción del audio del profesor</a:t>
            </a:r>
          </a:p>
          <a:p>
            <a:pPr algn="ctr">
              <a:lnSpc>
                <a:spcPts val="3706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3401475" y="3083473"/>
            <a:ext cx="2722116" cy="769064"/>
            <a:chOff x="0" y="0"/>
            <a:chExt cx="1768157" cy="4995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68157" cy="499547"/>
            </a:xfrm>
            <a:custGeom>
              <a:avLst/>
              <a:gdLst/>
              <a:ahLst/>
              <a:cxnLst/>
              <a:rect r="r" b="b" t="t" l="l"/>
              <a:pathLst>
                <a:path h="499547" w="1768157">
                  <a:moveTo>
                    <a:pt x="1564957" y="0"/>
                  </a:moveTo>
                  <a:cubicBezTo>
                    <a:pt x="1677182" y="0"/>
                    <a:pt x="1768157" y="111827"/>
                    <a:pt x="1768157" y="249774"/>
                  </a:cubicBezTo>
                  <a:cubicBezTo>
                    <a:pt x="1768157" y="387720"/>
                    <a:pt x="1677182" y="499547"/>
                    <a:pt x="1564957" y="499547"/>
                  </a:cubicBezTo>
                  <a:lnTo>
                    <a:pt x="203200" y="499547"/>
                  </a:lnTo>
                  <a:cubicBezTo>
                    <a:pt x="90976" y="499547"/>
                    <a:pt x="0" y="387720"/>
                    <a:pt x="0" y="249774"/>
                  </a:cubicBezTo>
                  <a:cubicBezTo>
                    <a:pt x="0" y="111827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768157" cy="566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LIBRERÍAS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52399" y="3083473"/>
            <a:ext cx="2722116" cy="769064"/>
            <a:chOff x="0" y="0"/>
            <a:chExt cx="1768157" cy="4995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8157" cy="499547"/>
            </a:xfrm>
            <a:custGeom>
              <a:avLst/>
              <a:gdLst/>
              <a:ahLst/>
              <a:cxnLst/>
              <a:rect r="r" b="b" t="t" l="l"/>
              <a:pathLst>
                <a:path h="499547" w="1768157">
                  <a:moveTo>
                    <a:pt x="1564957" y="0"/>
                  </a:moveTo>
                  <a:cubicBezTo>
                    <a:pt x="1677182" y="0"/>
                    <a:pt x="1768157" y="111827"/>
                    <a:pt x="1768157" y="249774"/>
                  </a:cubicBezTo>
                  <a:cubicBezTo>
                    <a:pt x="1768157" y="387720"/>
                    <a:pt x="1677182" y="499547"/>
                    <a:pt x="1564957" y="499547"/>
                  </a:cubicBezTo>
                  <a:lnTo>
                    <a:pt x="203200" y="499547"/>
                  </a:lnTo>
                  <a:cubicBezTo>
                    <a:pt x="90976" y="499547"/>
                    <a:pt x="0" y="387720"/>
                    <a:pt x="0" y="249774"/>
                  </a:cubicBezTo>
                  <a:cubicBezTo>
                    <a:pt x="0" y="111827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768157" cy="566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MODELOS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610967" y="9263650"/>
            <a:ext cx="3427871" cy="787875"/>
            <a:chOff x="0" y="0"/>
            <a:chExt cx="17681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058715" y="9570231"/>
            <a:ext cx="369584" cy="174713"/>
          </a:xfrm>
          <a:custGeom>
            <a:avLst/>
            <a:gdLst/>
            <a:ahLst/>
            <a:cxnLst/>
            <a:rect r="r" b="b" t="t" l="l"/>
            <a:pathLst>
              <a:path h="174713" w="369584">
                <a:moveTo>
                  <a:pt x="0" y="0"/>
                </a:moveTo>
                <a:lnTo>
                  <a:pt x="369584" y="0"/>
                </a:lnTo>
                <a:lnTo>
                  <a:pt x="369584" y="174712"/>
                </a:lnTo>
                <a:lnTo>
                  <a:pt x="0" y="174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082840" y="9553550"/>
            <a:ext cx="1518989" cy="25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9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next slide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1514" y="512922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04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02644" y="2995185"/>
            <a:ext cx="3587055" cy="824463"/>
            <a:chOff x="0" y="0"/>
            <a:chExt cx="1768157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98887" y="3274502"/>
            <a:ext cx="3194569" cy="31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3"/>
              </a:lnSpc>
            </a:pPr>
            <a:r>
              <a:rPr lang="en-US" b="true" sz="23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MODELO / LIBRERÍA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2851" y="4257797"/>
            <a:ext cx="4166640" cy="446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663" indent="-421331" lvl="1">
              <a:lnSpc>
                <a:spcPts val="5034"/>
              </a:lnSpc>
              <a:buFont typeface="Arial"/>
              <a:buChar char="•"/>
            </a:pPr>
            <a:r>
              <a:rPr lang="en-US" sz="390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PaddleOCR</a:t>
            </a:r>
          </a:p>
          <a:p>
            <a:pPr algn="l" marL="842663" indent="-421331" lvl="1">
              <a:lnSpc>
                <a:spcPts val="5034"/>
              </a:lnSpc>
              <a:buFont typeface="Arial"/>
              <a:buChar char="•"/>
            </a:pPr>
            <a:r>
              <a:rPr lang="en-US" sz="390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Qwen2.5-VL</a:t>
            </a:r>
          </a:p>
          <a:p>
            <a:pPr algn="l" marL="842663" indent="-421331" lvl="1">
              <a:lnSpc>
                <a:spcPts val="5034"/>
              </a:lnSpc>
              <a:buFont typeface="Arial"/>
              <a:buChar char="•"/>
            </a:pPr>
            <a:r>
              <a:rPr lang="en-US" sz="390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Mistral-7B-Instruct</a:t>
            </a:r>
          </a:p>
          <a:p>
            <a:pPr algn="l" marL="842663" indent="-421331" lvl="1">
              <a:lnSpc>
                <a:spcPts val="5034"/>
              </a:lnSpc>
              <a:buFont typeface="Arial"/>
              <a:buChar char="•"/>
            </a:pPr>
            <a:r>
              <a:rPr lang="en-US" sz="390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microsoft/phi-2</a:t>
            </a:r>
          </a:p>
          <a:p>
            <a:pPr algn="l" marL="842663" indent="-421331" lvl="1">
              <a:lnSpc>
                <a:spcPts val="5034"/>
              </a:lnSpc>
              <a:buFont typeface="Arial"/>
              <a:buChar char="•"/>
            </a:pPr>
            <a:r>
              <a:rPr lang="en-US" sz="390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SmolLM3-3B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17990"/>
            <a:ext cx="16030015" cy="212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Librerías y modelos descartados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146457" y="3054113"/>
            <a:ext cx="3842534" cy="883183"/>
            <a:chOff x="0" y="0"/>
            <a:chExt cx="1768157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98866" y="3083473"/>
            <a:ext cx="3738639" cy="859303"/>
            <a:chOff x="0" y="0"/>
            <a:chExt cx="1768157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299009" y="3362790"/>
            <a:ext cx="3689982" cy="31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3"/>
              </a:lnSpc>
            </a:pPr>
            <a:r>
              <a:rPr lang="en-US" b="true" sz="23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PARA QUÉ SE PROBÓ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98866" y="3362790"/>
            <a:ext cx="3689982" cy="31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3"/>
              </a:lnSpc>
            </a:pPr>
            <a:r>
              <a:rPr lang="en-US" b="true" sz="2372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MOTIVO DESCARTE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28745" y="4257797"/>
            <a:ext cx="4915431" cy="465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OCR avanzado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Análisis visual del PDF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Alternativa LLM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Alternativa ligera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Alternativa textual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82286" y="4257797"/>
            <a:ext cx="5556552" cy="39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Problemas de compatibilidad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Muy lento y pesado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Más coste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Sin ventaja clara</a:t>
            </a:r>
          </a:p>
          <a:p>
            <a:pPr algn="l" marL="886580" indent="-443290" lvl="1">
              <a:lnSpc>
                <a:spcPts val="5297"/>
              </a:lnSpc>
              <a:buFont typeface="Arial"/>
              <a:buChar char="•"/>
            </a:pPr>
            <a:r>
              <a:rPr lang="en-US" sz="410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No se integró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82889">
            <a:off x="-4783694" y="7975014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17267" y="9739594"/>
            <a:ext cx="2613783" cy="545599"/>
            <a:chOff x="0" y="0"/>
            <a:chExt cx="1768157" cy="3690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369084"/>
            </a:xfrm>
            <a:custGeom>
              <a:avLst/>
              <a:gdLst/>
              <a:ahLst/>
              <a:cxnLst/>
              <a:rect r="r" b="b" t="t" l="l"/>
              <a:pathLst>
                <a:path h="369084" w="1768157">
                  <a:moveTo>
                    <a:pt x="1564957" y="0"/>
                  </a:moveTo>
                  <a:cubicBezTo>
                    <a:pt x="1677182" y="0"/>
                    <a:pt x="1768157" y="82622"/>
                    <a:pt x="1768157" y="184542"/>
                  </a:cubicBezTo>
                  <a:cubicBezTo>
                    <a:pt x="1768157" y="286462"/>
                    <a:pt x="1677182" y="369084"/>
                    <a:pt x="1564957" y="369084"/>
                  </a:cubicBezTo>
                  <a:lnTo>
                    <a:pt x="203200" y="369084"/>
                  </a:lnTo>
                  <a:cubicBezTo>
                    <a:pt x="90976" y="369084"/>
                    <a:pt x="0" y="286462"/>
                    <a:pt x="0" y="184542"/>
                  </a:cubicBezTo>
                  <a:cubicBezTo>
                    <a:pt x="0" y="82622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07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529657" y="9925037"/>
            <a:ext cx="369584" cy="174713"/>
          </a:xfrm>
          <a:custGeom>
            <a:avLst/>
            <a:gdLst/>
            <a:ahLst/>
            <a:cxnLst/>
            <a:rect r="r" b="b" t="t" l="l"/>
            <a:pathLst>
              <a:path h="174713" w="369584">
                <a:moveTo>
                  <a:pt x="0" y="0"/>
                </a:moveTo>
                <a:lnTo>
                  <a:pt x="369585" y="0"/>
                </a:lnTo>
                <a:lnTo>
                  <a:pt x="369585" y="174713"/>
                </a:lnTo>
                <a:lnTo>
                  <a:pt x="0" y="1747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3425" y="1359121"/>
            <a:ext cx="4993586" cy="9204767"/>
          </a:xfrm>
          <a:custGeom>
            <a:avLst/>
            <a:gdLst/>
            <a:ahLst/>
            <a:cxnLst/>
            <a:rect r="r" b="b" t="t" l="l"/>
            <a:pathLst>
              <a:path h="9204767" w="4993586">
                <a:moveTo>
                  <a:pt x="0" y="0"/>
                </a:moveTo>
                <a:lnTo>
                  <a:pt x="4993586" y="0"/>
                </a:lnTo>
                <a:lnTo>
                  <a:pt x="4993586" y="9204767"/>
                </a:lnTo>
                <a:lnTo>
                  <a:pt x="0" y="92047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010668" y="9908357"/>
            <a:ext cx="1518989" cy="25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9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next slide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312" y="200303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84212" y="211996"/>
            <a:ext cx="13145445" cy="95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98"/>
              </a:lnSpc>
            </a:pPr>
            <a:r>
              <a:rPr lang="en-US" sz="7472" b="true">
                <a:solidFill>
                  <a:srgbClr val="36E9F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Funciones principales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17942" y="1321021"/>
            <a:ext cx="8533572" cy="187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• extract_with_docling(...)</a:t>
            </a:r>
          </a:p>
          <a:p>
            <a:pPr algn="ctr">
              <a:lnSpc>
                <a:spcPts val="3706"/>
              </a:lnSpc>
            </a:pP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Extrae el texto del PDF y lo separa por diapositivas</a:t>
            </a:r>
          </a:p>
          <a:p>
            <a:pPr algn="r">
              <a:lnSpc>
                <a:spcPts val="3706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0" y="4615821"/>
            <a:ext cx="2691369" cy="2691369"/>
          </a:xfrm>
          <a:custGeom>
            <a:avLst/>
            <a:gdLst/>
            <a:ahLst/>
            <a:cxnLst/>
            <a:rect r="r" b="b" t="t" l="l"/>
            <a:pathLst>
              <a:path h="2691369" w="2691369">
                <a:moveTo>
                  <a:pt x="0" y="0"/>
                </a:moveTo>
                <a:lnTo>
                  <a:pt x="2691369" y="0"/>
                </a:lnTo>
                <a:lnTo>
                  <a:pt x="2691369" y="2691368"/>
                </a:lnTo>
                <a:lnTo>
                  <a:pt x="0" y="26913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659459" y="2678967"/>
            <a:ext cx="8533572" cy="140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•</a:t>
            </a: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transcribe_audio(...)</a:t>
            </a:r>
          </a:p>
          <a:p>
            <a:pPr algn="ctr">
              <a:lnSpc>
                <a:spcPts val="3706"/>
              </a:lnSpc>
            </a:pP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Transcribe el audio en segmentos temporales</a:t>
            </a:r>
          </a:p>
          <a:p>
            <a:pPr algn="r">
              <a:lnSpc>
                <a:spcPts val="370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487642" y="4089350"/>
            <a:ext cx="8533572" cy="187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• extract_docx_text(...)</a:t>
            </a:r>
          </a:p>
          <a:p>
            <a:pPr algn="ctr">
              <a:lnSpc>
                <a:spcPts val="3706"/>
              </a:lnSpc>
            </a:pP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Lee y limpia el contenido del Word del alumno</a:t>
            </a:r>
          </a:p>
          <a:p>
            <a:pPr algn="ctr">
              <a:lnSpc>
                <a:spcPts val="3706"/>
              </a:lnSpc>
            </a:pPr>
          </a:p>
          <a:p>
            <a:pPr algn="r">
              <a:lnSpc>
                <a:spcPts val="370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404725" y="5843045"/>
            <a:ext cx="8883275" cy="187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• build_prompt(...) / build_explanation_prompt(...)</a:t>
            </a:r>
          </a:p>
          <a:p>
            <a:pPr algn="ctr">
              <a:lnSpc>
                <a:spcPts val="3706"/>
              </a:lnSpc>
            </a:pP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Construye el prompt para el modelo</a:t>
            </a:r>
          </a:p>
          <a:p>
            <a:pPr algn="l">
              <a:lnSpc>
                <a:spcPts val="3706"/>
              </a:lnSpc>
            </a:pPr>
          </a:p>
          <a:p>
            <a:pPr algn="r">
              <a:lnSpc>
                <a:spcPts val="370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022286" y="6919420"/>
            <a:ext cx="8533572" cy="233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• model.generate(...)</a:t>
            </a:r>
          </a:p>
          <a:p>
            <a:pPr algn="ctr">
              <a:lnSpc>
                <a:spcPts val="3706"/>
              </a:lnSpc>
            </a:pP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Genera tema, síntesis y explicación final</a:t>
            </a: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r">
              <a:lnSpc>
                <a:spcPts val="3706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89072" y="8463748"/>
            <a:ext cx="8737565" cy="233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873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• create_explanation_pdf(...) / merge_pdfs(...)</a:t>
            </a:r>
          </a:p>
          <a:p>
            <a:pPr algn="ctr">
              <a:lnSpc>
                <a:spcPts val="3706"/>
              </a:lnSpc>
            </a:pPr>
            <a:r>
              <a:rPr lang="en-US" sz="287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Genera el PDF final con las explicaciones</a:t>
            </a:r>
          </a:p>
          <a:p>
            <a:pPr algn="l">
              <a:lnSpc>
                <a:spcPts val="3706"/>
              </a:lnSpc>
            </a:pPr>
          </a:p>
          <a:p>
            <a:pPr algn="l">
              <a:lnSpc>
                <a:spcPts val="3706"/>
              </a:lnSpc>
            </a:pPr>
          </a:p>
          <a:p>
            <a:pPr algn="r">
              <a:lnSpc>
                <a:spcPts val="370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860129" y="9272871"/>
            <a:ext cx="3427871" cy="787875"/>
            <a:chOff x="0" y="0"/>
            <a:chExt cx="17681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259300" y="9579452"/>
            <a:ext cx="369584" cy="174713"/>
          </a:xfrm>
          <a:custGeom>
            <a:avLst/>
            <a:gdLst/>
            <a:ahLst/>
            <a:cxnLst/>
            <a:rect r="r" b="b" t="t" l="l"/>
            <a:pathLst>
              <a:path h="174713" w="369584">
                <a:moveTo>
                  <a:pt x="0" y="0"/>
                </a:moveTo>
                <a:lnTo>
                  <a:pt x="369584" y="0"/>
                </a:lnTo>
                <a:lnTo>
                  <a:pt x="369584" y="174713"/>
                </a:lnTo>
                <a:lnTo>
                  <a:pt x="0" y="1747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255365" y="9562772"/>
            <a:ext cx="1518989" cy="25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9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next slide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4926" y="563765"/>
            <a:ext cx="14975513" cy="110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3"/>
              </a:lnSpc>
            </a:pPr>
            <a:r>
              <a:rPr lang="en-US" sz="857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Prompt de coordinaciónAI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0966" y="1930081"/>
            <a:ext cx="8239273" cy="286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35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Objetivo:</a:t>
            </a:r>
          </a:p>
          <a:p>
            <a:pPr algn="ctr">
              <a:lnSpc>
                <a:spcPts val="4515"/>
              </a:lnSpc>
            </a:pPr>
            <a:r>
              <a:rPr lang="en-US" sz="3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asignar a cada diapositiva el audio más relevante</a:t>
            </a:r>
          </a:p>
          <a:p>
            <a:pPr algn="l">
              <a:lnSpc>
                <a:spcPts val="4515"/>
              </a:lnSpc>
            </a:pPr>
          </a:p>
          <a:p>
            <a:pPr algn="l">
              <a:lnSpc>
                <a:spcPts val="451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116329" y="1912850"/>
            <a:ext cx="8171671" cy="229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  <a:spcBef>
                <a:spcPct val="0"/>
              </a:spcBef>
            </a:pPr>
            <a:r>
              <a:rPr lang="en-US" b="true" sz="3500" i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Entrada:</a:t>
            </a:r>
          </a:p>
          <a:p>
            <a:pPr algn="ctr">
              <a:lnSpc>
                <a:spcPts val="4515"/>
              </a:lnSpc>
              <a:spcBef>
                <a:spcPct val="0"/>
              </a:spcBef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texto de la diapositiva</a:t>
            </a:r>
          </a:p>
          <a:p>
            <a:pPr algn="ctr">
              <a:lnSpc>
                <a:spcPts val="4515"/>
              </a:lnSpc>
              <a:spcBef>
                <a:spcPct val="0"/>
              </a:spcBef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segmentos del audio</a:t>
            </a:r>
          </a:p>
          <a:p>
            <a:pPr algn="ctr">
              <a:lnSpc>
                <a:spcPts val="4515"/>
              </a:lnSpc>
              <a:spcBef>
                <a:spcPct val="0"/>
              </a:spcBef>
            </a:pPr>
            <a:r>
              <a:rPr lang="en-US" sz="3500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keywords / tema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2338" y="4812333"/>
            <a:ext cx="11940689" cy="485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3296" i="true" b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Fragmento del prompt: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Texto de la diapositiva: {slide_text}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Segmentos del audio: {audio_block}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Tarea: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Selecciona únicamente los índices de los segmentos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del audio que explican esta diapositiva.</a:t>
            </a:r>
          </a:p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3296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Devuelve solo una lista JSON de enteros.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312" y="200303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72293">
            <a:off x="-5799371" y="6668368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8920761" y="-3494855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15479" y="0"/>
            <a:ext cx="14657041" cy="10287000"/>
          </a:xfrm>
          <a:custGeom>
            <a:avLst/>
            <a:gdLst/>
            <a:ahLst/>
            <a:cxnLst/>
            <a:rect r="r" b="b" t="t" l="l"/>
            <a:pathLst>
              <a:path h="10287000" w="14657041">
                <a:moveTo>
                  <a:pt x="0" y="0"/>
                </a:moveTo>
                <a:lnTo>
                  <a:pt x="14657042" y="0"/>
                </a:lnTo>
                <a:lnTo>
                  <a:pt x="1465704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1312" y="200303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14761">
            <a:off x="5680419" y="6404287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1"/>
                </a:lnTo>
                <a:lnTo>
                  <a:pt x="0" y="6989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3960635" y="-5525403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860129" y="9272871"/>
            <a:ext cx="3427871" cy="787875"/>
            <a:chOff x="0" y="0"/>
            <a:chExt cx="17681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259300" y="9579452"/>
            <a:ext cx="369584" cy="174713"/>
          </a:xfrm>
          <a:custGeom>
            <a:avLst/>
            <a:gdLst/>
            <a:ahLst/>
            <a:cxnLst/>
            <a:rect r="r" b="b" t="t" l="l"/>
            <a:pathLst>
              <a:path h="174713" w="369584">
                <a:moveTo>
                  <a:pt x="0" y="0"/>
                </a:moveTo>
                <a:lnTo>
                  <a:pt x="369584" y="0"/>
                </a:lnTo>
                <a:lnTo>
                  <a:pt x="369584" y="174713"/>
                </a:lnTo>
                <a:lnTo>
                  <a:pt x="0" y="1747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67113" y="2974572"/>
            <a:ext cx="8820887" cy="4988337"/>
          </a:xfrm>
          <a:custGeom>
            <a:avLst/>
            <a:gdLst/>
            <a:ahLst/>
            <a:cxnLst/>
            <a:rect r="r" b="b" t="t" l="l"/>
            <a:pathLst>
              <a:path h="4988337" w="8820887">
                <a:moveTo>
                  <a:pt x="0" y="0"/>
                </a:moveTo>
                <a:lnTo>
                  <a:pt x="8820887" y="0"/>
                </a:lnTo>
                <a:lnTo>
                  <a:pt x="8820887" y="4988337"/>
                </a:lnTo>
                <a:lnTo>
                  <a:pt x="0" y="49883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3262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01484" y="2298869"/>
            <a:ext cx="3621940" cy="3621940"/>
          </a:xfrm>
          <a:custGeom>
            <a:avLst/>
            <a:gdLst/>
            <a:ahLst/>
            <a:cxnLst/>
            <a:rect r="r" b="b" t="t" l="l"/>
            <a:pathLst>
              <a:path h="3621940" w="3621940">
                <a:moveTo>
                  <a:pt x="0" y="0"/>
                </a:moveTo>
                <a:lnTo>
                  <a:pt x="3621940" y="0"/>
                </a:lnTo>
                <a:lnTo>
                  <a:pt x="3621940" y="3621940"/>
                </a:lnTo>
                <a:lnTo>
                  <a:pt x="0" y="36219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2794" y="6558984"/>
            <a:ext cx="8771206" cy="3190526"/>
          </a:xfrm>
          <a:custGeom>
            <a:avLst/>
            <a:gdLst/>
            <a:ahLst/>
            <a:cxnLst/>
            <a:rect r="r" b="b" t="t" l="l"/>
            <a:pathLst>
              <a:path h="3190526" w="8771206">
                <a:moveTo>
                  <a:pt x="0" y="0"/>
                </a:moveTo>
                <a:lnTo>
                  <a:pt x="8771206" y="0"/>
                </a:lnTo>
                <a:lnTo>
                  <a:pt x="8771206" y="3190526"/>
                </a:lnTo>
                <a:lnTo>
                  <a:pt x="0" y="31905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255365" y="9562772"/>
            <a:ext cx="1518989" cy="25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9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next slide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4926" y="563765"/>
            <a:ext cx="1558437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EJEMPLO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312" y="200303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572293">
            <a:off x="-5799371" y="6668368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572293">
            <a:off x="8920761" y="-3494855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7783" y="755232"/>
            <a:ext cx="8456217" cy="9134523"/>
          </a:xfrm>
          <a:custGeom>
            <a:avLst/>
            <a:gdLst/>
            <a:ahLst/>
            <a:cxnLst/>
            <a:rect r="r" b="b" t="t" l="l"/>
            <a:pathLst>
              <a:path h="9134523" w="8456217">
                <a:moveTo>
                  <a:pt x="0" y="0"/>
                </a:moveTo>
                <a:lnTo>
                  <a:pt x="8456217" y="0"/>
                </a:lnTo>
                <a:lnTo>
                  <a:pt x="8456217" y="9134523"/>
                </a:lnTo>
                <a:lnTo>
                  <a:pt x="0" y="9134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55814" y="335356"/>
            <a:ext cx="7507733" cy="9616287"/>
          </a:xfrm>
          <a:custGeom>
            <a:avLst/>
            <a:gdLst/>
            <a:ahLst/>
            <a:cxnLst/>
            <a:rect r="r" b="b" t="t" l="l"/>
            <a:pathLst>
              <a:path h="9616287" w="7507733">
                <a:moveTo>
                  <a:pt x="0" y="0"/>
                </a:moveTo>
                <a:lnTo>
                  <a:pt x="7507733" y="0"/>
                </a:lnTo>
                <a:lnTo>
                  <a:pt x="7507733" y="9616288"/>
                </a:lnTo>
                <a:lnTo>
                  <a:pt x="0" y="9616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61B7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422" y="7418326"/>
            <a:ext cx="3706687" cy="5139254"/>
          </a:xfrm>
          <a:custGeom>
            <a:avLst/>
            <a:gdLst/>
            <a:ahLst/>
            <a:cxnLst/>
            <a:rect r="r" b="b" t="t" l="l"/>
            <a:pathLst>
              <a:path h="5139254" w="3706687">
                <a:moveTo>
                  <a:pt x="0" y="0"/>
                </a:moveTo>
                <a:lnTo>
                  <a:pt x="3706687" y="0"/>
                </a:lnTo>
                <a:lnTo>
                  <a:pt x="3706687" y="5139255"/>
                </a:lnTo>
                <a:lnTo>
                  <a:pt x="0" y="5139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674030" y="-913037"/>
            <a:ext cx="2800955" cy="3893092"/>
          </a:xfrm>
          <a:custGeom>
            <a:avLst/>
            <a:gdLst/>
            <a:ahLst/>
            <a:cxnLst/>
            <a:rect r="r" b="b" t="t" l="l"/>
            <a:pathLst>
              <a:path h="3893092" w="2800955">
                <a:moveTo>
                  <a:pt x="2800955" y="3893092"/>
                </a:moveTo>
                <a:lnTo>
                  <a:pt x="0" y="3893092"/>
                </a:lnTo>
                <a:lnTo>
                  <a:pt x="0" y="0"/>
                </a:lnTo>
                <a:lnTo>
                  <a:pt x="2800955" y="0"/>
                </a:lnTo>
                <a:lnTo>
                  <a:pt x="2800955" y="3893092"/>
                </a:lnTo>
                <a:close/>
              </a:path>
            </a:pathLst>
          </a:custGeom>
          <a:blipFill>
            <a:blip r:embed="rId2"/>
            <a:stretch>
              <a:fillRect l="-123" t="0" r="-123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914217" y="9682899"/>
            <a:ext cx="2373783" cy="545599"/>
            <a:chOff x="0" y="0"/>
            <a:chExt cx="1768157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8157" cy="406400"/>
            </a:xfrm>
            <a:custGeom>
              <a:avLst/>
              <a:gdLst/>
              <a:ahLst/>
              <a:cxnLst/>
              <a:rect r="r" b="b" t="t" l="l"/>
              <a:pathLst>
                <a:path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628204" y="9813241"/>
            <a:ext cx="369584" cy="174713"/>
          </a:xfrm>
          <a:custGeom>
            <a:avLst/>
            <a:gdLst/>
            <a:ahLst/>
            <a:cxnLst/>
            <a:rect r="r" b="b" t="t" l="l"/>
            <a:pathLst>
              <a:path h="174713" w="369584">
                <a:moveTo>
                  <a:pt x="0" y="0"/>
                </a:moveTo>
                <a:lnTo>
                  <a:pt x="369584" y="0"/>
                </a:lnTo>
                <a:lnTo>
                  <a:pt x="369584" y="174712"/>
                </a:lnTo>
                <a:lnTo>
                  <a:pt x="0" y="174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94007" y="9796560"/>
            <a:ext cx="1518989" cy="25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997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next slide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2430" y="7216343"/>
            <a:ext cx="1569643" cy="1569643"/>
          </a:xfrm>
          <a:custGeom>
            <a:avLst/>
            <a:gdLst/>
            <a:ahLst/>
            <a:cxnLst/>
            <a:rect r="r" b="b" t="t" l="l"/>
            <a:pathLst>
              <a:path h="1569643" w="1569643">
                <a:moveTo>
                  <a:pt x="0" y="0"/>
                </a:moveTo>
                <a:lnTo>
                  <a:pt x="1569642" y="0"/>
                </a:lnTo>
                <a:lnTo>
                  <a:pt x="1569642" y="1569643"/>
                </a:lnTo>
                <a:lnTo>
                  <a:pt x="0" y="15696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913616" y="1033509"/>
            <a:ext cx="2691369" cy="2691369"/>
          </a:xfrm>
          <a:custGeom>
            <a:avLst/>
            <a:gdLst/>
            <a:ahLst/>
            <a:cxnLst/>
            <a:rect r="r" b="b" t="t" l="l"/>
            <a:pathLst>
              <a:path h="2691369" w="2691369">
                <a:moveTo>
                  <a:pt x="0" y="0"/>
                </a:moveTo>
                <a:lnTo>
                  <a:pt x="2691368" y="0"/>
                </a:lnTo>
                <a:lnTo>
                  <a:pt x="2691368" y="2691369"/>
                </a:lnTo>
                <a:lnTo>
                  <a:pt x="0" y="26913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35433" y="7418326"/>
            <a:ext cx="1569643" cy="1569643"/>
          </a:xfrm>
          <a:custGeom>
            <a:avLst/>
            <a:gdLst/>
            <a:ahLst/>
            <a:cxnLst/>
            <a:rect r="r" b="b" t="t" l="l"/>
            <a:pathLst>
              <a:path h="1569643" w="1569643">
                <a:moveTo>
                  <a:pt x="0" y="0"/>
                </a:moveTo>
                <a:lnTo>
                  <a:pt x="1569643" y="0"/>
                </a:lnTo>
                <a:lnTo>
                  <a:pt x="1569643" y="1569643"/>
                </a:lnTo>
                <a:lnTo>
                  <a:pt x="0" y="15696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978488" y="4564432"/>
            <a:ext cx="8331023" cy="215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6"/>
              </a:lnSpc>
            </a:pPr>
            <a:r>
              <a:rPr lang="en-US" sz="8681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Líneas futuras</a:t>
            </a:r>
          </a:p>
          <a:p>
            <a:pPr algn="l">
              <a:lnSpc>
                <a:spcPts val="8246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5459864" y="648978"/>
            <a:ext cx="4038660" cy="769064"/>
            <a:chOff x="0" y="0"/>
            <a:chExt cx="2623321" cy="4995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23321" cy="499547"/>
            </a:xfrm>
            <a:custGeom>
              <a:avLst/>
              <a:gdLst/>
              <a:ahLst/>
              <a:cxnLst/>
              <a:rect r="r" b="b" t="t" l="l"/>
              <a:pathLst>
                <a:path h="499547" w="2623321">
                  <a:moveTo>
                    <a:pt x="2420121" y="0"/>
                  </a:moveTo>
                  <a:cubicBezTo>
                    <a:pt x="2532346" y="0"/>
                    <a:pt x="2623321" y="111827"/>
                    <a:pt x="2623321" y="249774"/>
                  </a:cubicBezTo>
                  <a:cubicBezTo>
                    <a:pt x="2623321" y="387720"/>
                    <a:pt x="2532346" y="499547"/>
                    <a:pt x="2420121" y="499547"/>
                  </a:cubicBezTo>
                  <a:lnTo>
                    <a:pt x="203200" y="499547"/>
                  </a:lnTo>
                  <a:cubicBezTo>
                    <a:pt x="90976" y="499547"/>
                    <a:pt x="0" y="387720"/>
                    <a:pt x="0" y="249774"/>
                  </a:cubicBezTo>
                  <a:cubicBezTo>
                    <a:pt x="0" y="111827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623321" cy="566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SALIDA ⟶ AUDIO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01689" y="2189175"/>
            <a:ext cx="6772841" cy="1311989"/>
            <a:chOff x="0" y="0"/>
            <a:chExt cx="4399315" cy="8522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99315" cy="852205"/>
            </a:xfrm>
            <a:custGeom>
              <a:avLst/>
              <a:gdLst/>
              <a:ahLst/>
              <a:cxnLst/>
              <a:rect r="r" b="b" t="t" l="l"/>
              <a:pathLst>
                <a:path h="852205" w="4399315">
                  <a:moveTo>
                    <a:pt x="4196115" y="0"/>
                  </a:moveTo>
                  <a:cubicBezTo>
                    <a:pt x="4308339" y="0"/>
                    <a:pt x="4399315" y="190773"/>
                    <a:pt x="4399315" y="426103"/>
                  </a:cubicBezTo>
                  <a:cubicBezTo>
                    <a:pt x="4399315" y="661433"/>
                    <a:pt x="4308339" y="852205"/>
                    <a:pt x="4196115" y="852205"/>
                  </a:cubicBezTo>
                  <a:lnTo>
                    <a:pt x="203200" y="852205"/>
                  </a:lnTo>
                  <a:cubicBezTo>
                    <a:pt x="90976" y="852205"/>
                    <a:pt x="0" y="661433"/>
                    <a:pt x="0" y="426103"/>
                  </a:cubicBezTo>
                  <a:cubicBezTo>
                    <a:pt x="0" y="19077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4399315" cy="91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EXTRAER MEJOR FÓRMULAS, IMÁGENES Y TABLAS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91712" y="2189175"/>
            <a:ext cx="7721335" cy="1311989"/>
            <a:chOff x="0" y="0"/>
            <a:chExt cx="5015412" cy="8522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15412" cy="852205"/>
            </a:xfrm>
            <a:custGeom>
              <a:avLst/>
              <a:gdLst/>
              <a:ahLst/>
              <a:cxnLst/>
              <a:rect r="r" b="b" t="t" l="l"/>
              <a:pathLst>
                <a:path h="852205" w="5015412">
                  <a:moveTo>
                    <a:pt x="4812212" y="0"/>
                  </a:moveTo>
                  <a:cubicBezTo>
                    <a:pt x="4924436" y="0"/>
                    <a:pt x="5015412" y="190773"/>
                    <a:pt x="5015412" y="426103"/>
                  </a:cubicBezTo>
                  <a:cubicBezTo>
                    <a:pt x="5015412" y="661433"/>
                    <a:pt x="4924436" y="852205"/>
                    <a:pt x="4812212" y="852205"/>
                  </a:cubicBezTo>
                  <a:lnTo>
                    <a:pt x="203200" y="852205"/>
                  </a:lnTo>
                  <a:cubicBezTo>
                    <a:pt x="90976" y="852205"/>
                    <a:pt x="0" y="661433"/>
                    <a:pt x="0" y="426103"/>
                  </a:cubicBezTo>
                  <a:cubicBezTo>
                    <a:pt x="0" y="19077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015412" cy="91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PERSONALIZAR LA EXPLICACIÓN SEGÚN EL ESTUDIANTE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569051" y="6560349"/>
            <a:ext cx="5532057" cy="1311989"/>
            <a:chOff x="0" y="0"/>
            <a:chExt cx="3593361" cy="8522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93361" cy="852205"/>
            </a:xfrm>
            <a:custGeom>
              <a:avLst/>
              <a:gdLst/>
              <a:ahLst/>
              <a:cxnLst/>
              <a:rect r="r" b="b" t="t" l="l"/>
              <a:pathLst>
                <a:path h="852205" w="3593361">
                  <a:moveTo>
                    <a:pt x="3390161" y="0"/>
                  </a:moveTo>
                  <a:cubicBezTo>
                    <a:pt x="3502385" y="0"/>
                    <a:pt x="3593361" y="190773"/>
                    <a:pt x="3593361" y="426103"/>
                  </a:cubicBezTo>
                  <a:cubicBezTo>
                    <a:pt x="3593361" y="661433"/>
                    <a:pt x="3502385" y="852205"/>
                    <a:pt x="3390161" y="852205"/>
                  </a:cubicBezTo>
                  <a:lnTo>
                    <a:pt x="203200" y="852205"/>
                  </a:lnTo>
                  <a:cubicBezTo>
                    <a:pt x="90976" y="852205"/>
                    <a:pt x="0" y="661433"/>
                    <a:pt x="0" y="426103"/>
                  </a:cubicBezTo>
                  <a:cubicBezTo>
                    <a:pt x="0" y="19077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3593361" cy="91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INTEGRAR MEJOR LOS APUNTES DEL ALUMNO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377813" y="8436947"/>
            <a:ext cx="5427111" cy="1311989"/>
            <a:chOff x="0" y="0"/>
            <a:chExt cx="3525193" cy="8522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25193" cy="852205"/>
            </a:xfrm>
            <a:custGeom>
              <a:avLst/>
              <a:gdLst/>
              <a:ahLst/>
              <a:cxnLst/>
              <a:rect r="r" b="b" t="t" l="l"/>
              <a:pathLst>
                <a:path h="852205" w="3525193">
                  <a:moveTo>
                    <a:pt x="3321993" y="0"/>
                  </a:moveTo>
                  <a:cubicBezTo>
                    <a:pt x="3434217" y="0"/>
                    <a:pt x="3525193" y="190773"/>
                    <a:pt x="3525193" y="426103"/>
                  </a:cubicBezTo>
                  <a:cubicBezTo>
                    <a:pt x="3525193" y="661433"/>
                    <a:pt x="3434217" y="852205"/>
                    <a:pt x="3321993" y="852205"/>
                  </a:cubicBezTo>
                  <a:lnTo>
                    <a:pt x="203200" y="852205"/>
                  </a:lnTo>
                  <a:cubicBezTo>
                    <a:pt x="90976" y="852205"/>
                    <a:pt x="0" y="661433"/>
                    <a:pt x="0" y="426103"/>
                  </a:cubicBezTo>
                  <a:cubicBezTo>
                    <a:pt x="0" y="19077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3525193" cy="91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OPTIMIZAR TIEMPO DE EJECUCIÓN Y MEMORIA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646787" y="6560349"/>
            <a:ext cx="5664814" cy="1311989"/>
            <a:chOff x="0" y="0"/>
            <a:chExt cx="3679594" cy="8522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79594" cy="852205"/>
            </a:xfrm>
            <a:custGeom>
              <a:avLst/>
              <a:gdLst/>
              <a:ahLst/>
              <a:cxnLst/>
              <a:rect r="r" b="b" t="t" l="l"/>
              <a:pathLst>
                <a:path h="852205" w="3679594">
                  <a:moveTo>
                    <a:pt x="3476394" y="0"/>
                  </a:moveTo>
                  <a:cubicBezTo>
                    <a:pt x="3588618" y="0"/>
                    <a:pt x="3679594" y="190773"/>
                    <a:pt x="3679594" y="426103"/>
                  </a:cubicBezTo>
                  <a:cubicBezTo>
                    <a:pt x="3679594" y="661433"/>
                    <a:pt x="3588618" y="852205"/>
                    <a:pt x="3476394" y="852205"/>
                  </a:cubicBezTo>
                  <a:lnTo>
                    <a:pt x="203200" y="852205"/>
                  </a:lnTo>
                  <a:cubicBezTo>
                    <a:pt x="90976" y="852205"/>
                    <a:pt x="0" y="661433"/>
                    <a:pt x="0" y="426103"/>
                  </a:cubicBezTo>
                  <a:cubicBezTo>
                    <a:pt x="0" y="190773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3679594" cy="918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3"/>
                </a:lnSpc>
              </a:pPr>
              <a:r>
                <a:rPr lang="en-US" b="true" sz="3088" spc="206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CREAR UNA INTERFAZ WEB O APP SENCILLA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91312" y="200303"/>
            <a:ext cx="1154372" cy="51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7"/>
              </a:lnSpc>
            </a:pPr>
            <a:r>
              <a:rPr lang="en-US" sz="314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197" y="7069581"/>
            <a:ext cx="19517450" cy="2188719"/>
            <a:chOff x="0" y="0"/>
            <a:chExt cx="5140398" cy="5764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40398" cy="576453"/>
            </a:xfrm>
            <a:custGeom>
              <a:avLst/>
              <a:gdLst/>
              <a:ahLst/>
              <a:cxnLst/>
              <a:rect r="r" b="b" t="t" l="l"/>
              <a:pathLst>
                <a:path h="576453" w="5140398">
                  <a:moveTo>
                    <a:pt x="0" y="0"/>
                  </a:moveTo>
                  <a:lnTo>
                    <a:pt x="5140398" y="0"/>
                  </a:lnTo>
                  <a:lnTo>
                    <a:pt x="5140398" y="576453"/>
                  </a:lnTo>
                  <a:lnTo>
                    <a:pt x="0" y="576453"/>
                  </a:lnTo>
                  <a:close/>
                </a:path>
              </a:pathLst>
            </a:custGeom>
            <a:solidFill>
              <a:srgbClr val="012130">
                <a:alpha val="2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140398" cy="605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647679">
            <a:off x="5159744" y="2704709"/>
            <a:ext cx="27455017" cy="10021081"/>
          </a:xfrm>
          <a:custGeom>
            <a:avLst/>
            <a:gdLst/>
            <a:ahLst/>
            <a:cxnLst/>
            <a:rect r="r" b="b" t="t" l="l"/>
            <a:pathLst>
              <a:path h="10021081" w="27455017">
                <a:moveTo>
                  <a:pt x="0" y="0"/>
                </a:moveTo>
                <a:lnTo>
                  <a:pt x="27455018" y="0"/>
                </a:lnTo>
                <a:lnTo>
                  <a:pt x="27455018" y="10021082"/>
                </a:lnTo>
                <a:lnTo>
                  <a:pt x="0" y="10021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161320">
            <a:off x="-5537192" y="-4329620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040885" y="3580748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91007" y="7752239"/>
            <a:ext cx="531072" cy="531072"/>
          </a:xfrm>
          <a:custGeom>
            <a:avLst/>
            <a:gdLst/>
            <a:ahLst/>
            <a:cxnLst/>
            <a:rect r="r" b="b" t="t" l="l"/>
            <a:pathLst>
              <a:path h="531072" w="531072">
                <a:moveTo>
                  <a:pt x="0" y="0"/>
                </a:moveTo>
                <a:lnTo>
                  <a:pt x="531072" y="0"/>
                </a:lnTo>
                <a:lnTo>
                  <a:pt x="531072" y="531072"/>
                </a:lnTo>
                <a:lnTo>
                  <a:pt x="0" y="5310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62871" y="7752239"/>
            <a:ext cx="531072" cy="531072"/>
          </a:xfrm>
          <a:custGeom>
            <a:avLst/>
            <a:gdLst/>
            <a:ahLst/>
            <a:cxnLst/>
            <a:rect r="r" b="b" t="t" l="l"/>
            <a:pathLst>
              <a:path h="531072" w="531072">
                <a:moveTo>
                  <a:pt x="0" y="0"/>
                </a:moveTo>
                <a:lnTo>
                  <a:pt x="531072" y="0"/>
                </a:lnTo>
                <a:lnTo>
                  <a:pt x="531072" y="531072"/>
                </a:lnTo>
                <a:lnTo>
                  <a:pt x="0" y="531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14923" y="7715250"/>
            <a:ext cx="568061" cy="568061"/>
          </a:xfrm>
          <a:custGeom>
            <a:avLst/>
            <a:gdLst/>
            <a:ahLst/>
            <a:cxnLst/>
            <a:rect r="r" b="b" t="t" l="l"/>
            <a:pathLst>
              <a:path h="568061" w="568061">
                <a:moveTo>
                  <a:pt x="0" y="0"/>
                </a:moveTo>
                <a:lnTo>
                  <a:pt x="568061" y="0"/>
                </a:lnTo>
                <a:lnTo>
                  <a:pt x="568061" y="568061"/>
                </a:lnTo>
                <a:lnTo>
                  <a:pt x="0" y="5680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55863" y="4411280"/>
            <a:ext cx="9176274" cy="110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sz="8572" b="true">
                <a:solidFill>
                  <a:srgbClr val="36E9F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Gracias!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45829" y="5607374"/>
            <a:ext cx="8436920" cy="83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9"/>
              </a:lnSpc>
            </a:pPr>
            <a:r>
              <a:rPr lang="en-US" sz="2573" i="true">
                <a:solidFill>
                  <a:srgbClr val="FFFFFF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 Gracias por explorar el mundo ESTUD-IA con nosotros. Para más información, contáctenos.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13124" y="7838284"/>
            <a:ext cx="3455523" cy="32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3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equipo@estud-ia.com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36467" y="7838284"/>
            <a:ext cx="2159281" cy="32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3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+123-456-7890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02059" y="7838284"/>
            <a:ext cx="3455523" cy="320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5"/>
              </a:lnSpc>
              <a:spcBef>
                <a:spcPct val="0"/>
              </a:spcBef>
            </a:pPr>
            <a:r>
              <a:rPr lang="en-US" sz="1903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www.estudia-ia.com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45470" y="3740820"/>
            <a:ext cx="6941274" cy="34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2"/>
              </a:lnSpc>
            </a:pPr>
            <a:r>
              <a:rPr lang="en-US" sz="26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CRISTHIAN TORRICO - JEREMY AGUILAR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DAHE_nw88P4</dc:identifier>
  <dcterms:modified xsi:type="dcterms:W3CDTF">2011-08-01T06:04:30Z</dcterms:modified>
  <cp:revision>1</cp:revision>
  <dc:title>STUD-IA</dc:title>
</cp:coreProperties>
</file>